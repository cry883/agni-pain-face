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D737-254E-4BFC-B299-E6A3901B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5CD1F-E78F-4652-AFD3-7927B268D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2CFA-9207-462E-A939-B63C961534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7744C-1252-4166-AECD-D83354EFCF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4EF72-A4BB-4B73-805E-8CC257CE5A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D7C9-D7FD-42E0-A73E-D493E056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8600-6A11-4F5F-97A8-588E6F0B1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5722-0432-4A00-A8DF-A173FB9B4B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02BF5-E45E-40E8-B256-05FDF273CC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8392A-2E89-4CDF-B7D5-A6AC174D94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8D35-52E7-4F8D-8E54-12C9F933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49A62-A3FB-4FD6-9663-C42128FB2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ADA34-E5A4-4386-923D-288EB63F35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D78B-5AFD-480E-8095-57DC16100C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F3E4-5B5C-492B-8A4A-75E2E40A5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8048-B6CC-470E-A5C8-973D8E40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22E3B-C117-4F32-AC8D-8B7B3283A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8CE59-203C-4DC1-832F-6295933A80D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77EB4-5B97-4A19-977E-9BD422025F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46A39-D4E3-4173-99C0-8BC9345143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37DDF-3FCA-4167-86DC-CBEF716326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86FA-6B97-4096-83E8-D2A0A4D9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4DC64-05C6-4504-8C16-23EE79715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1F307-BC41-4594-8F8F-9C658853443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A9440-30A6-466E-979F-FD4C043B971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D7EED-24F8-42C5-86EC-B78D0BDEAED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4C4DD-0092-4E60-8293-05D8BFC6BC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37766-8B55-4337-B073-3346FC06A1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61A7D-1A6B-48F5-8F41-C340A6F58F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FDF6-022D-441E-8627-D82DAD37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B6236-693A-401B-A76F-73EDBE8BF7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AE7FE-326E-4B80-8546-5D6113ABDA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AC528-BB2C-4F9F-A71A-6B151B340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65388-45B9-4EE6-8EAF-BA8A629D06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739AC-3E58-46FE-BCD5-7B76D3B809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4C523-82DD-4023-8B43-DE64B3AE1A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A938-A439-41C9-A735-F1E3A73F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E369D-3962-40D6-BCF8-E55F6F8C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F110F-BDE4-47A7-85C2-9D9CEAFCCAB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37D67-323B-4769-AFE4-D435F59D1F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E6BA9-A8F3-4E32-B5D5-9549CA4959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218BF-EF16-4399-B1A5-A562A9AFCB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1A7A-85E4-4BA0-A7E6-6BCAB7C2B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5BFF1-AF97-490A-BC2A-D005E44D7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A4CA6-EE44-4BB3-AF2E-170374A491D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D5899-1FF3-4E8E-B27F-46F8F6CDDF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7B9E9-C012-4DE3-8EE1-0822F345D8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DF6B7-AF69-4D20-A411-022C8EF9B1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DDE0-A523-4D23-A402-3FE0B527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779E3-F9F4-4C7F-8601-7E40A6828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C1CAB-272C-44A4-B480-13BF687EA7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7D1FF-4DB2-474D-8872-54BE514E8D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5FCE9-2356-41A8-B566-96B3AF24C3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3DFC7-3345-4857-9380-ECB538F96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70EE1-1B21-4F82-86E4-93220D790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35A7C-312E-4055-8010-BFEF15DEC7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CB595-01A5-47AA-BEB6-7D0A8775C1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4346-504A-478D-B4EA-8CF9E99765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0C4D0-AA23-405C-BFF1-5563EFBD1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2CAC4-864F-4C89-9A0E-3133C148F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3A5C6-EDBE-4C7C-9043-292E79D6C5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42D54-8F0B-42DB-8C3F-F70241446D7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E7BBF-F537-422B-A881-A169F99D249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84C0C1-ADBB-4E3B-8686-2DC090DDD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D84EB-AAC4-427F-A30C-3867115AEEF2}"/>
              </a:ext>
            </a:extLst>
          </p:cNvPr>
          <p:cNvSpPr>
            <a:spLocks noGrp="1"/>
          </p:cNvSpPr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A6198E-CE7A-4769-8198-63512B7E8C48}"/>
              </a:ext>
            </a:extLst>
          </p:cNvPr>
          <p:cNvSpPr>
            <a:spLocks noGrp="1"/>
          </p:cNvSpPr>
          <p:nvPr/>
        </p:nvSpPr>
        <p:spPr>
          <a:xfrm>
            <a:off x="822960" y="2331720"/>
            <a:ext cx="146304" cy="182880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6E1-4866-4118-BA1A-FE76D176A606}"/>
              </a:ext>
            </a:extLst>
          </p:cNvPr>
          <p:cNvSpPr>
            <a:spLocks noGrp="1"/>
          </p:cNvSpPr>
          <p:nvPr/>
        </p:nvSpPr>
        <p:spPr>
          <a:xfrm>
            <a:off x="118872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6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《数字图像处理》课程项目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598B5-1510-4E2F-BEEB-45BEDC6C0D0A}"/>
              </a:ext>
            </a:extLst>
          </p:cNvPr>
          <p:cNvSpPr>
            <a:spLocks noGrp="1"/>
          </p:cNvSpPr>
          <p:nvPr/>
        </p:nvSpPr>
        <p:spPr>
          <a:xfrm>
            <a:off x="1188720" y="2971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6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人脸替换特效实现探究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30F657-B798-455B-9276-C2F79ED29E81}"/>
              </a:ext>
            </a:extLst>
          </p:cNvPr>
          <p:cNvSpPr>
            <a:spLocks noGrp="1"/>
          </p:cNvSpPr>
          <p:nvPr/>
        </p:nvSpPr>
        <p:spPr>
          <a:xfrm>
            <a:off x="118872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以抖音「阿格尼痛苦脸」为起点 · 从零复现人脸替换</a:t>
            </a:r>
          </a:p>
        </p:txBody>
      </p:sp>
    </p:spTree>
    <p:extLst>
      <p:ext uri="{BB962C8B-B14F-4D97-AF65-F5344CB8AC3E}">
        <p14:creationId xmlns:p14="http://schemas.microsoft.com/office/powerpoint/2010/main" val="146408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2A7590-F2A0-44F5-B3B8-A5FC4020FF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6D7E9-06B7-4744-9451-7D98C63182FF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A575E-395E-4FC8-B427-BB715A2179E4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一、背景与目标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44C4A-26B7-473B-9A7C-3F914B31E4AD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E64FFB-4179-4C5D-92AC-BF4837A55A63}"/>
              </a:ext>
            </a:extLst>
          </p:cNvPr>
          <p:cNvSpPr>
            <a:spLocks noGrp="1"/>
          </p:cNvSpPr>
          <p:nvPr/>
        </p:nvSpPr>
        <p:spPr>
          <a:xfrm>
            <a:off x="640080" y="10972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背景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2A2A6-17FB-4B32-8B3C-83782C79971A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51206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短视频人脸特效使用量、传播量极高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以「阿格尼痛苦脸」为参考对象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96809-1BED-4AC4-84EA-0E51094EDBD1}"/>
              </a:ext>
            </a:extLst>
          </p:cNvPr>
          <p:cNvSpPr>
            <a:spLocks noGrp="1"/>
          </p:cNvSpPr>
          <p:nvPr/>
        </p:nvSpPr>
        <p:spPr>
          <a:xfrm>
            <a:off x="640080" y="3657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目标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29995-97BF-4B4A-9B9C-908F6C419FD9}"/>
              </a:ext>
            </a:extLst>
          </p:cNvPr>
          <p:cNvSpPr>
            <a:spLocks noGrp="1"/>
          </p:cNvSpPr>
          <p:nvPr/>
        </p:nvSpPr>
        <p:spPr>
          <a:xfrm>
            <a:off x="640080" y="4160520"/>
            <a:ext cx="51206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理解人脸替换背后的图像处理原理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用数字图像技术从零复现实时特效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73FFED-2319-4F3E-B092-AE8117D3CC00}"/>
              </a:ext>
            </a:extLst>
          </p:cNvPr>
          <p:cNvSpPr>
            <a:spLocks noGrp="1"/>
          </p:cNvSpPr>
          <p:nvPr/>
        </p:nvSpPr>
        <p:spPr>
          <a:xfrm>
            <a:off x="6172200" y="10515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98864"/>
            <a:ext cx="2651760" cy="32089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17F62B-8A4F-45AF-9DDE-0AAB0030388B}"/>
              </a:ext>
            </a:extLst>
          </p:cNvPr>
          <p:cNvSpPr>
            <a:spLocks noGrp="1"/>
          </p:cNvSpPr>
          <p:nvPr/>
        </p:nvSpPr>
        <p:spPr>
          <a:xfrm>
            <a:off x="9098280" y="1051560"/>
            <a:ext cx="2468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784857"/>
            <a:ext cx="2377440" cy="38369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0FEBFE-4AE6-4FA1-B0DD-DE16AA241F87}"/>
              </a:ext>
            </a:extLst>
          </p:cNvPr>
          <p:cNvSpPr>
            <a:spLocks noGrp="1"/>
          </p:cNvSpPr>
          <p:nvPr/>
        </p:nvSpPr>
        <p:spPr>
          <a:xfrm>
            <a:off x="6217920" y="6355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抖音特效效果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ADE54-137A-419F-97BB-1CF7FC7B1709}"/>
              </a:ext>
            </a:extLst>
          </p:cNvPr>
          <p:cNvSpPr>
            <a:spLocks noGrp="1"/>
          </p:cNvSpPr>
          <p:nvPr/>
        </p:nvSpPr>
        <p:spPr>
          <a:xfrm>
            <a:off x="9144000" y="6355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流量分析</a:t>
            </a:r>
          </a:p>
        </p:txBody>
      </p:sp>
    </p:spTree>
    <p:extLst>
      <p:ext uri="{BB962C8B-B14F-4D97-AF65-F5344CB8AC3E}">
        <p14:creationId xmlns:p14="http://schemas.microsoft.com/office/powerpoint/2010/main" val="135931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A947C-4CDD-49B5-8F68-0B386733F5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D7F6F-696D-4B87-A68E-AE70B78383C5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AFC60-A081-4D20-9A83-E956BEB6BBA2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二、技术路线总览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7834F-2D9F-4423-BC54-5C01A1581AF8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A988F-BF07-4AC6-B2A7-C6DD1FE995D5}"/>
              </a:ext>
            </a:extLst>
          </p:cNvPr>
          <p:cNvSpPr>
            <a:spLocks noGrp="1"/>
          </p:cNvSpPr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整体流程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BACD2C-8504-4DB2-AD23-3C54ADC8ADB0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82880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2CC41-16C8-4F6A-BDD4-CC947552949A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摄像头帧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B76E0-866A-4015-AC16-E299CCF4CE61}"/>
              </a:ext>
            </a:extLst>
          </p:cNvPr>
          <p:cNvSpPr>
            <a:spLocks noGrp="1"/>
          </p:cNvSpPr>
          <p:nvPr/>
        </p:nvSpPr>
        <p:spPr>
          <a:xfrm>
            <a:off x="2423160" y="1691640"/>
            <a:ext cx="274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CAF8E2-6792-4E7F-99EE-96037B225325}"/>
              </a:ext>
            </a:extLst>
          </p:cNvPr>
          <p:cNvSpPr>
            <a:spLocks noGrp="1"/>
          </p:cNvSpPr>
          <p:nvPr/>
        </p:nvSpPr>
        <p:spPr>
          <a:xfrm>
            <a:off x="2468880" y="1691640"/>
            <a:ext cx="3017520" cy="77724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24C0C-C488-4FF3-BEED-1FFC5A53E0E9}"/>
              </a:ext>
            </a:extLst>
          </p:cNvPr>
          <p:cNvSpPr>
            <a:spLocks noGrp="1"/>
          </p:cNvSpPr>
          <p:nvPr/>
        </p:nvSpPr>
        <p:spPr>
          <a:xfrm>
            <a:off x="2468880" y="169164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MediaPipe 检测关键点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20064-EEC1-4888-8BC2-AA83113FA39D}"/>
              </a:ext>
            </a:extLst>
          </p:cNvPr>
          <p:cNvSpPr>
            <a:spLocks noGrp="1"/>
          </p:cNvSpPr>
          <p:nvPr/>
        </p:nvSpPr>
        <p:spPr>
          <a:xfrm>
            <a:off x="5440680" y="1691640"/>
            <a:ext cx="274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21E09-FD34-454F-9029-6ABFE6798EC1}"/>
              </a:ext>
            </a:extLst>
          </p:cNvPr>
          <p:cNvSpPr>
            <a:spLocks noGrp="1"/>
          </p:cNvSpPr>
          <p:nvPr/>
        </p:nvSpPr>
        <p:spPr>
          <a:xfrm>
            <a:off x="5486400" y="1691640"/>
            <a:ext cx="246888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766E0-71C6-48F5-BA7D-9DC6C1B7374C}"/>
              </a:ext>
            </a:extLst>
          </p:cNvPr>
          <p:cNvSpPr>
            <a:spLocks noGrp="1"/>
          </p:cNvSpPr>
          <p:nvPr/>
        </p:nvSpPr>
        <p:spPr>
          <a:xfrm>
            <a:off x="5486400" y="1691640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几何变形对齐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B0C511-1FA8-4D0C-A088-1768355F6CAB}"/>
              </a:ext>
            </a:extLst>
          </p:cNvPr>
          <p:cNvSpPr>
            <a:spLocks noGrp="1"/>
          </p:cNvSpPr>
          <p:nvPr/>
        </p:nvSpPr>
        <p:spPr>
          <a:xfrm>
            <a:off x="7909559" y="1691640"/>
            <a:ext cx="274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2BF2AB-E0E8-468E-8FA2-F5E9E00A3CC9}"/>
              </a:ext>
            </a:extLst>
          </p:cNvPr>
          <p:cNvSpPr>
            <a:spLocks noGrp="1"/>
          </p:cNvSpPr>
          <p:nvPr/>
        </p:nvSpPr>
        <p:spPr>
          <a:xfrm>
            <a:off x="7955279" y="1691640"/>
            <a:ext cx="2103120" cy="77724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AF606E-03B5-41A8-BBDC-667A230B5F49}"/>
              </a:ext>
            </a:extLst>
          </p:cNvPr>
          <p:cNvSpPr>
            <a:spLocks noGrp="1"/>
          </p:cNvSpPr>
          <p:nvPr/>
        </p:nvSpPr>
        <p:spPr>
          <a:xfrm>
            <a:off x="7955279" y="169164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Alpha 融合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457AD8-9AD0-4C1B-AD70-E49B68274AD1}"/>
              </a:ext>
            </a:extLst>
          </p:cNvPr>
          <p:cNvSpPr>
            <a:spLocks noGrp="1"/>
          </p:cNvSpPr>
          <p:nvPr/>
        </p:nvSpPr>
        <p:spPr>
          <a:xfrm>
            <a:off x="10012680" y="1691640"/>
            <a:ext cx="274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47506-46B4-4C2B-9347-47AD16EBB80C}"/>
              </a:ext>
            </a:extLst>
          </p:cNvPr>
          <p:cNvSpPr>
            <a:spLocks noGrp="1"/>
          </p:cNvSpPr>
          <p:nvPr/>
        </p:nvSpPr>
        <p:spPr>
          <a:xfrm>
            <a:off x="10058400" y="1691640"/>
            <a:ext cx="128016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0F471D-3F2B-4E6A-A138-CABDFA9062C0}"/>
              </a:ext>
            </a:extLst>
          </p:cNvPr>
          <p:cNvSpPr>
            <a:spLocks noGrp="1"/>
          </p:cNvSpPr>
          <p:nvPr/>
        </p:nvSpPr>
        <p:spPr>
          <a:xfrm>
            <a:off x="10058400" y="1691640"/>
            <a:ext cx="1280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显示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0FD2C-2D89-4F75-A5E3-919D77205D5F}"/>
              </a:ext>
            </a:extLst>
          </p:cNvPr>
          <p:cNvSpPr>
            <a:spLocks noGrp="1"/>
          </p:cNvSpPr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版本演进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ECB08-399E-4922-AE8A-23F0D3E6B0C1}"/>
              </a:ext>
            </a:extLst>
          </p:cNvPr>
          <p:cNvSpPr>
            <a:spLocks noGrp="1"/>
          </p:cNvSpPr>
          <p:nvPr/>
        </p:nvSpPr>
        <p:spPr>
          <a:xfrm>
            <a:off x="640080" y="33832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C3919C-B911-403F-9C53-26CF846C08F6}"/>
              </a:ext>
            </a:extLst>
          </p:cNvPr>
          <p:cNvSpPr>
            <a:spLocks noGrp="1"/>
          </p:cNvSpPr>
          <p:nvPr/>
        </p:nvSpPr>
        <p:spPr>
          <a:xfrm>
            <a:off x="640080" y="3383280"/>
            <a:ext cx="352044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936144-AAAB-4ED1-A985-18DF92D403C4}"/>
              </a:ext>
            </a:extLst>
          </p:cNvPr>
          <p:cNvSpPr>
            <a:spLocks noGrp="1"/>
          </p:cNvSpPr>
          <p:nvPr/>
        </p:nvSpPr>
        <p:spPr>
          <a:xfrm>
            <a:off x="640080" y="3383280"/>
            <a:ext cx="3520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v1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318C12-8B86-4D99-B5D9-D66DC95DEBE1}"/>
              </a:ext>
            </a:extLst>
          </p:cNvPr>
          <p:cNvSpPr>
            <a:spLocks noGrp="1"/>
          </p:cNvSpPr>
          <p:nvPr/>
        </p:nvSpPr>
        <p:spPr>
          <a:xfrm>
            <a:off x="914400" y="42062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6 点 + 全局仿射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820476-DB76-4A34-8B4F-20A90667CAA8}"/>
              </a:ext>
            </a:extLst>
          </p:cNvPr>
          <p:cNvSpPr>
            <a:spLocks noGrp="1"/>
          </p:cNvSpPr>
          <p:nvPr/>
        </p:nvSpPr>
        <p:spPr>
          <a:xfrm>
            <a:off x="914400" y="49834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刚性贴图，跟随头部整体运动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F476D2-E3BD-4CD2-A013-629A3EFFB1CB}"/>
              </a:ext>
            </a:extLst>
          </p:cNvPr>
          <p:cNvSpPr>
            <a:spLocks noGrp="1"/>
          </p:cNvSpPr>
          <p:nvPr/>
        </p:nvSpPr>
        <p:spPr>
          <a:xfrm>
            <a:off x="4389120" y="33832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E66307-9066-48A0-9A67-80AED6925DAB}"/>
              </a:ext>
            </a:extLst>
          </p:cNvPr>
          <p:cNvSpPr>
            <a:spLocks noGrp="1"/>
          </p:cNvSpPr>
          <p:nvPr/>
        </p:nvSpPr>
        <p:spPr>
          <a:xfrm>
            <a:off x="4389120" y="3383280"/>
            <a:ext cx="352044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5317EA-267E-440C-9194-91B1EDE29254}"/>
              </a:ext>
            </a:extLst>
          </p:cNvPr>
          <p:cNvSpPr>
            <a:spLocks noGrp="1"/>
          </p:cNvSpPr>
          <p:nvPr/>
        </p:nvSpPr>
        <p:spPr>
          <a:xfrm>
            <a:off x="4389120" y="3383280"/>
            <a:ext cx="3520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v2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B7FD2-CA4E-4580-A3D6-FEAD90632A5E}"/>
              </a:ext>
            </a:extLst>
          </p:cNvPr>
          <p:cNvSpPr>
            <a:spLocks noGrp="1"/>
          </p:cNvSpPr>
          <p:nvPr/>
        </p:nvSpPr>
        <p:spPr>
          <a:xfrm>
            <a:off x="4663440" y="42062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468 点 + 三角剖分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84701-2CEE-49FE-8222-51BD1B797A2D}"/>
              </a:ext>
            </a:extLst>
          </p:cNvPr>
          <p:cNvSpPr>
            <a:spLocks noGrp="1"/>
          </p:cNvSpPr>
          <p:nvPr/>
        </p:nvSpPr>
        <p:spPr>
          <a:xfrm>
            <a:off x="4663440" y="49834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非刚性变形，五官可独立运动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FB7057-A250-434D-AE7E-50E3CFF1B456}"/>
              </a:ext>
            </a:extLst>
          </p:cNvPr>
          <p:cNvSpPr>
            <a:spLocks noGrp="1"/>
          </p:cNvSpPr>
          <p:nvPr/>
        </p:nvSpPr>
        <p:spPr>
          <a:xfrm>
            <a:off x="8138159" y="33832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71B623-1868-493B-AECE-CE562259AED5}"/>
              </a:ext>
            </a:extLst>
          </p:cNvPr>
          <p:cNvSpPr>
            <a:spLocks noGrp="1"/>
          </p:cNvSpPr>
          <p:nvPr/>
        </p:nvSpPr>
        <p:spPr>
          <a:xfrm>
            <a:off x="8138159" y="3383280"/>
            <a:ext cx="352044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8D154F-E22E-4110-B5CE-7D7711F587CA}"/>
              </a:ext>
            </a:extLst>
          </p:cNvPr>
          <p:cNvSpPr>
            <a:spLocks noGrp="1"/>
          </p:cNvSpPr>
          <p:nvPr/>
        </p:nvSpPr>
        <p:spPr>
          <a:xfrm>
            <a:off x="8138159" y="3383280"/>
            <a:ext cx="3520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v2.1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5D2FB9-37AC-4EFC-B473-08C5CB1F7DD3}"/>
              </a:ext>
            </a:extLst>
          </p:cNvPr>
          <p:cNvSpPr>
            <a:spLocks noGrp="1"/>
          </p:cNvSpPr>
          <p:nvPr/>
        </p:nvSpPr>
        <p:spPr>
          <a:xfrm>
            <a:off x="8412479" y="42062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3D6DB5"/>
                </a:solidFill>
                <a:latin typeface="微软雅黑"/>
                <a:ea typeface="微软雅黑"/>
                <a:cs typeface="微软雅黑"/>
              </a:defRPr>
            </a:pPr>
            <a:r>
              <a:t>拓扑缓存 + 多 mask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1E5F4F-7B79-459A-909B-F79DE439B4F5}"/>
              </a:ext>
            </a:extLst>
          </p:cNvPr>
          <p:cNvSpPr>
            <a:spLocks noGrp="1"/>
          </p:cNvSpPr>
          <p:nvPr/>
        </p:nvSpPr>
        <p:spPr>
          <a:xfrm>
            <a:off x="8412479" y="49834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启动更快，支持不同人脸轮廓</a:t>
            </a:r>
          </a:p>
        </p:txBody>
      </p:sp>
    </p:spTree>
    <p:extLst>
      <p:ext uri="{BB962C8B-B14F-4D97-AF65-F5344CB8AC3E}">
        <p14:creationId xmlns:p14="http://schemas.microsoft.com/office/powerpoint/2010/main" val="41508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1D86A-1D26-418A-A326-3BE026B888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FDDC5-AC95-4F8D-A8D3-564277256C0D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E8C3C-DF68-453F-B1DA-CB332AE5B1AC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三、核心原理 ① 检测与变换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80FB3-31CA-475C-AF3E-A1D745AEAC62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7801A-0A99-480D-BBC3-60A0981EF1D2}"/>
              </a:ext>
            </a:extLst>
          </p:cNvPr>
          <p:cNvSpPr>
            <a:spLocks noGrp="1"/>
          </p:cNvSpPr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人脸检测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3FD2D-930B-42C9-BA9B-F1850F29B761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54864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MediaPipe Face Mesh 实时输出 468 个关键点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检测 → 回归 → 3D 拟合 → 帧间跟踪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44B61-B276-4C70-969A-BFA462AB7CE5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变换与融合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706C0-9F56-406D-AFF6-6B68B37A97D9}"/>
              </a:ext>
            </a:extLst>
          </p:cNvPr>
          <p:cNvSpPr>
            <a:spLocks noGrp="1"/>
          </p:cNvSpPr>
          <p:nvPr/>
        </p:nvSpPr>
        <p:spPr>
          <a:xfrm>
            <a:off x="640080" y="4069080"/>
            <a:ext cx="5486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仿射变换：缩放 / 旋转 / 平移（6 参数）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Alpha 混合：(1−α)·背景 + α·前景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9B64B9-6736-49FC-8E0E-31EE78DF6904}"/>
              </a:ext>
            </a:extLst>
          </p:cNvPr>
          <p:cNvSpPr>
            <a:spLocks noGrp="1"/>
          </p:cNvSpPr>
          <p:nvPr/>
        </p:nvSpPr>
        <p:spPr>
          <a:xfrm>
            <a:off x="6446520" y="1143000"/>
            <a:ext cx="52120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61464"/>
            <a:ext cx="5120640" cy="40837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A73DF5-574D-480C-B921-1702FAAC2589}"/>
              </a:ext>
            </a:extLst>
          </p:cNvPr>
          <p:cNvSpPr>
            <a:spLocks noGrp="1"/>
          </p:cNvSpPr>
          <p:nvPr/>
        </p:nvSpPr>
        <p:spPr>
          <a:xfrm>
            <a:off x="6492240" y="62636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仿射变换 6 参数含义</a:t>
            </a:r>
          </a:p>
        </p:txBody>
      </p:sp>
    </p:spTree>
    <p:extLst>
      <p:ext uri="{BB962C8B-B14F-4D97-AF65-F5344CB8AC3E}">
        <p14:creationId xmlns:p14="http://schemas.microsoft.com/office/powerpoint/2010/main" val="197273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103968-3224-47B9-926C-A6C3A0DD3E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DFD293-D5F1-469C-8D24-9FE2FE2B4729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3A33A-9B5F-4E00-8CC4-9621450ACF04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三、核心原理 ② 非刚性变形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EFB6-0C96-4447-AFB9-8267A2C2AF23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F95EC-6AE8-4EAC-BFC3-13BDB16F3431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164592" cy="114300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0C03E-17BA-437E-BE2B-085D83A644FA}"/>
              </a:ext>
            </a:extLst>
          </p:cNvPr>
          <p:cNvSpPr>
            <a:spLocks noGrp="1"/>
          </p:cNvSpPr>
          <p:nvPr/>
        </p:nvSpPr>
        <p:spPr>
          <a:xfrm>
            <a:off x="960120" y="11887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密集对应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44A55-1E6E-4AF5-8BF5-3DF4CC76541B}"/>
              </a:ext>
            </a:extLst>
          </p:cNvPr>
          <p:cNvSpPr>
            <a:spLocks noGrp="1"/>
          </p:cNvSpPr>
          <p:nvPr/>
        </p:nvSpPr>
        <p:spPr>
          <a:xfrm>
            <a:off x="960120" y="169164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mask 第 i 点 ↔ 人脸第 i 点，468 对自动配对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334EBE-4910-4827-B3E6-683B4F6961F1}"/>
              </a:ext>
            </a:extLst>
          </p:cNvPr>
          <p:cNvSpPr>
            <a:spLocks noGrp="1"/>
          </p:cNvSpPr>
          <p:nvPr/>
        </p:nvSpPr>
        <p:spPr>
          <a:xfrm>
            <a:off x="640080" y="2606040"/>
            <a:ext cx="164592" cy="114300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EA11F1-4A37-4821-B90F-BAB32DE72468}"/>
              </a:ext>
            </a:extLst>
          </p:cNvPr>
          <p:cNvSpPr>
            <a:spLocks noGrp="1"/>
          </p:cNvSpPr>
          <p:nvPr/>
        </p:nvSpPr>
        <p:spPr>
          <a:xfrm>
            <a:off x="960120" y="26060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三角剖分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AD896-3D23-4B18-9924-DEB6C499E7A8}"/>
              </a:ext>
            </a:extLst>
          </p:cNvPr>
          <p:cNvSpPr>
            <a:spLocks noGrp="1"/>
          </p:cNvSpPr>
          <p:nvPr/>
        </p:nvSpPr>
        <p:spPr>
          <a:xfrm>
            <a:off x="960120" y="310896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Delaunay 剖分得三角网格，拓扑可缓存复用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B2459B-5656-4EBF-95AE-C7DDA5B56584}"/>
              </a:ext>
            </a:extLst>
          </p:cNvPr>
          <p:cNvSpPr>
            <a:spLocks noGrp="1"/>
          </p:cNvSpPr>
          <p:nvPr/>
        </p:nvSpPr>
        <p:spPr>
          <a:xfrm>
            <a:off x="640080" y="4023360"/>
            <a:ext cx="164592" cy="114300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B5342F-A87C-4D80-80A8-934A41B13130}"/>
              </a:ext>
            </a:extLst>
          </p:cNvPr>
          <p:cNvSpPr>
            <a:spLocks noGrp="1"/>
          </p:cNvSpPr>
          <p:nvPr/>
        </p:nvSpPr>
        <p:spPr>
          <a:xfrm>
            <a:off x="960120" y="4023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分片仿射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6467F-BA10-4890-ACEE-67E64B3A437D}"/>
              </a:ext>
            </a:extLst>
          </p:cNvPr>
          <p:cNvSpPr>
            <a:spLocks noGrp="1"/>
          </p:cNvSpPr>
          <p:nvPr/>
        </p:nvSpPr>
        <p:spPr>
          <a:xfrm>
            <a:off x="960120" y="452628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每个三角形单独 warp，拼接逼近局部形变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074542-F3DF-4A2B-9798-81F9141BA034}"/>
              </a:ext>
            </a:extLst>
          </p:cNvPr>
          <p:cNvSpPr>
            <a:spLocks noGrp="1"/>
          </p:cNvSpPr>
          <p:nvPr/>
        </p:nvSpPr>
        <p:spPr>
          <a:xfrm>
            <a:off x="6263640" y="1143000"/>
            <a:ext cx="5394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3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45" y="1188720"/>
            <a:ext cx="3653749" cy="47548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A9E4D77-B324-44F5-85E3-0A824162793D}"/>
              </a:ext>
            </a:extLst>
          </p:cNvPr>
          <p:cNvSpPr>
            <a:spLocks noGrp="1"/>
          </p:cNvSpPr>
          <p:nvPr/>
        </p:nvSpPr>
        <p:spPr>
          <a:xfrm>
            <a:off x="6309360" y="59893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MediaPipe 在手绘 mask 上稳定检出 468 点（检出率 100%）</a:t>
            </a:r>
          </a:p>
        </p:txBody>
      </p:sp>
    </p:spTree>
    <p:extLst>
      <p:ext uri="{BB962C8B-B14F-4D97-AF65-F5344CB8AC3E}">
        <p14:creationId xmlns:p14="http://schemas.microsoft.com/office/powerpoint/2010/main" val="3812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78A1F2-BBE9-46A5-BA05-DB7A22D2EF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E675B-6512-4A8F-9CCA-F29B64CB89EA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E3E16-A66C-45B1-A9A9-25CD601C2F8F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四、v1：刚性人脸贴图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19AC7-CD31-4CD6-8BDE-4E0A91C0424C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BB0989-EEAD-42DC-B9CD-A3368D7AA080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6AFE1-7856-491D-B0CB-947C61EB08C6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方法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AE835-A62A-48A8-A348-E43EF44E6EC1}"/>
              </a:ext>
            </a:extLst>
          </p:cNvPr>
          <p:cNvSpPr>
            <a:spLocks noGrp="1"/>
          </p:cNvSpPr>
          <p:nvPr/>
        </p:nvSpPr>
        <p:spPr>
          <a:xfrm>
            <a:off x="1645920" y="114300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6 对对应点 → 全局仿射 → Alpha 混合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85485-E3E4-4ABF-8982-39E90490A678}"/>
              </a:ext>
            </a:extLst>
          </p:cNvPr>
          <p:cNvSpPr>
            <a:spLocks noGrp="1"/>
          </p:cNvSpPr>
          <p:nvPr/>
        </p:nvSpPr>
        <p:spPr>
          <a:xfrm>
            <a:off x="640080" y="2221991"/>
            <a:ext cx="868680" cy="868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DE3FE-CC93-47BB-A15D-467DCB29A4C3}"/>
              </a:ext>
            </a:extLst>
          </p:cNvPr>
          <p:cNvSpPr>
            <a:spLocks noGrp="1"/>
          </p:cNvSpPr>
          <p:nvPr/>
        </p:nvSpPr>
        <p:spPr>
          <a:xfrm>
            <a:off x="640080" y="2221991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问题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FB01A5-612E-462E-A302-DCE357F0A403}"/>
              </a:ext>
            </a:extLst>
          </p:cNvPr>
          <p:cNvSpPr>
            <a:spLocks noGrp="1"/>
          </p:cNvSpPr>
          <p:nvPr/>
        </p:nvSpPr>
        <p:spPr>
          <a:xfrm>
            <a:off x="1645920" y="2221991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mask 未能覆盖全脸（对应点标注不准）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E0189-6E41-4693-9977-70AE60B3C253}"/>
              </a:ext>
            </a:extLst>
          </p:cNvPr>
          <p:cNvSpPr>
            <a:spLocks noGrp="1"/>
          </p:cNvSpPr>
          <p:nvPr/>
        </p:nvSpPr>
        <p:spPr>
          <a:xfrm>
            <a:off x="640080" y="3300983"/>
            <a:ext cx="868680" cy="868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3D6AD-F8CB-45FA-9D9F-C12CB4402C0C}"/>
              </a:ext>
            </a:extLst>
          </p:cNvPr>
          <p:cNvSpPr>
            <a:spLocks noGrp="1"/>
          </p:cNvSpPr>
          <p:nvPr/>
        </p:nvSpPr>
        <p:spPr>
          <a:xfrm>
            <a:off x="640080" y="3300983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解决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7A111-B477-4B86-9901-BFAF5BF1F3C5}"/>
              </a:ext>
            </a:extLst>
          </p:cNvPr>
          <p:cNvSpPr>
            <a:spLocks noGrp="1"/>
          </p:cNvSpPr>
          <p:nvPr/>
        </p:nvSpPr>
        <p:spPr>
          <a:xfrm>
            <a:off x="1645920" y="3300983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开发可视化关键点标注工具校正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AD175D-6CA5-4E77-811B-BFECF680CEAE}"/>
              </a:ext>
            </a:extLst>
          </p:cNvPr>
          <p:cNvSpPr>
            <a:spLocks noGrp="1"/>
          </p:cNvSpPr>
          <p:nvPr/>
        </p:nvSpPr>
        <p:spPr>
          <a:xfrm>
            <a:off x="640080" y="4379975"/>
            <a:ext cx="868680" cy="868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B75AC-FF15-483C-ACF3-799C2CC53E66}"/>
              </a:ext>
            </a:extLst>
          </p:cNvPr>
          <p:cNvSpPr>
            <a:spLocks noGrp="1"/>
          </p:cNvSpPr>
          <p:nvPr/>
        </p:nvSpPr>
        <p:spPr>
          <a:xfrm>
            <a:off x="640080" y="4379975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局限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4DD57-CD02-4604-B94A-98C26665E637}"/>
              </a:ext>
            </a:extLst>
          </p:cNvPr>
          <p:cNvSpPr>
            <a:spLocks noGrp="1"/>
          </p:cNvSpPr>
          <p:nvPr/>
        </p:nvSpPr>
        <p:spPr>
          <a:xfrm>
            <a:off x="1645920" y="4379975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8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边缘生硬，五官无法独立变形 → v2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4CA8D7-E55B-4AA0-8B84-9067719375EC}"/>
              </a:ext>
            </a:extLst>
          </p:cNvPr>
          <p:cNvSpPr>
            <a:spLocks noGrp="1"/>
          </p:cNvSpPr>
          <p:nvPr/>
        </p:nvSpPr>
        <p:spPr>
          <a:xfrm>
            <a:off x="5532120" y="1097280"/>
            <a:ext cx="2103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7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811779"/>
            <a:ext cx="2011680" cy="15087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0BFB13C-0751-4ED9-A448-13CF5E7FAD0B}"/>
              </a:ext>
            </a:extLst>
          </p:cNvPr>
          <p:cNvSpPr>
            <a:spLocks noGrp="1"/>
          </p:cNvSpPr>
          <p:nvPr/>
        </p:nvSpPr>
        <p:spPr>
          <a:xfrm>
            <a:off x="7680959" y="1097280"/>
            <a:ext cx="2103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2764002"/>
            <a:ext cx="2011680" cy="160431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F34C6CA-1556-41B2-9199-5670018851C2}"/>
              </a:ext>
            </a:extLst>
          </p:cNvPr>
          <p:cNvSpPr>
            <a:spLocks noGrp="1"/>
          </p:cNvSpPr>
          <p:nvPr/>
        </p:nvSpPr>
        <p:spPr>
          <a:xfrm>
            <a:off x="9829800" y="1097280"/>
            <a:ext cx="1920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1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314700"/>
            <a:ext cx="1828800" cy="25029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6ADAFB-8CAC-4911-B6C9-A4B48556B1E6}"/>
              </a:ext>
            </a:extLst>
          </p:cNvPr>
          <p:cNvSpPr>
            <a:spLocks noGrp="1"/>
          </p:cNvSpPr>
          <p:nvPr/>
        </p:nvSpPr>
        <p:spPr>
          <a:xfrm>
            <a:off x="5577840" y="60350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修复前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391D22-8B24-4205-A9B8-F8577F527E30}"/>
              </a:ext>
            </a:extLst>
          </p:cNvPr>
          <p:cNvSpPr>
            <a:spLocks noGrp="1"/>
          </p:cNvSpPr>
          <p:nvPr/>
        </p:nvSpPr>
        <p:spPr>
          <a:xfrm>
            <a:off x="7726679" y="60350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修复后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2D221-5788-444D-9300-06AC2957AC51}"/>
              </a:ext>
            </a:extLst>
          </p:cNvPr>
          <p:cNvSpPr>
            <a:spLocks noGrp="1"/>
          </p:cNvSpPr>
          <p:nvPr/>
        </p:nvSpPr>
        <p:spPr>
          <a:xfrm>
            <a:off x="9875520" y="6035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标注工具</a:t>
            </a:r>
          </a:p>
        </p:txBody>
      </p:sp>
    </p:spTree>
    <p:extLst>
      <p:ext uri="{BB962C8B-B14F-4D97-AF65-F5344CB8AC3E}">
        <p14:creationId xmlns:p14="http://schemas.microsoft.com/office/powerpoint/2010/main" val="105978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FBE18F-0D8B-4C8B-8BF2-FC48BBC142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021F93-D4B9-4F6A-9625-A4729911406C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FA8A9-020B-4C0D-8A05-08190A7C535D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五、v2：思路与流程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14DB3-A5B0-4047-98C3-17CF39035A89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D93A7-8DF6-46BB-B421-961EB9BE7F6F}"/>
              </a:ext>
            </a:extLst>
          </p:cNvPr>
          <p:cNvSpPr>
            <a:spLocks noGrp="1"/>
          </p:cNvSpPr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1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动机：v1 整张 mask 共用一个矩阵，无法表现五官局部运动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9DC1C-41C0-458B-8062-A7A64153B052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处理流程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096B1-9081-470F-A815-9FDC5406C499}"/>
              </a:ext>
            </a:extLst>
          </p:cNvPr>
          <p:cNvSpPr>
            <a:spLocks noGrp="1"/>
          </p:cNvSpPr>
          <p:nvPr/>
        </p:nvSpPr>
        <p:spPr>
          <a:xfrm>
            <a:off x="640080" y="2468880"/>
            <a:ext cx="2468880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BBC77-6532-473E-9B8F-7A7F345C093B}"/>
              </a:ext>
            </a:extLst>
          </p:cNvPr>
          <p:cNvSpPr>
            <a:spLocks noGrp="1"/>
          </p:cNvSpPr>
          <p:nvPr/>
        </p:nvSpPr>
        <p:spPr>
          <a:xfrm>
            <a:off x="640080" y="24688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检测 468 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5B4620-91C7-4309-8442-2A5F141F31D4}"/>
              </a:ext>
            </a:extLst>
          </p:cNvPr>
          <p:cNvSpPr>
            <a:spLocks noGrp="1"/>
          </p:cNvSpPr>
          <p:nvPr/>
        </p:nvSpPr>
        <p:spPr>
          <a:xfrm>
            <a:off x="3017520" y="246888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F22CF0-BE1A-43F2-8FDA-A7B0A3B1C2A9}"/>
              </a:ext>
            </a:extLst>
          </p:cNvPr>
          <p:cNvSpPr>
            <a:spLocks noGrp="1"/>
          </p:cNvSpPr>
          <p:nvPr/>
        </p:nvSpPr>
        <p:spPr>
          <a:xfrm>
            <a:off x="3337560" y="2468880"/>
            <a:ext cx="2468880" cy="91440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A711A-9962-42C4-AF66-775972E3B296}"/>
              </a:ext>
            </a:extLst>
          </p:cNvPr>
          <p:cNvSpPr>
            <a:spLocks noGrp="1"/>
          </p:cNvSpPr>
          <p:nvPr/>
        </p:nvSpPr>
        <p:spPr>
          <a:xfrm>
            <a:off x="3337560" y="24688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按编号一一对应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64E2A-376C-4ECD-B9D4-18EF2D429905}"/>
              </a:ext>
            </a:extLst>
          </p:cNvPr>
          <p:cNvSpPr>
            <a:spLocks noGrp="1"/>
          </p:cNvSpPr>
          <p:nvPr/>
        </p:nvSpPr>
        <p:spPr>
          <a:xfrm>
            <a:off x="5715000" y="246888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83B7E7-0A68-4DB2-AA8F-7499385829A2}"/>
              </a:ext>
            </a:extLst>
          </p:cNvPr>
          <p:cNvSpPr>
            <a:spLocks noGrp="1"/>
          </p:cNvSpPr>
          <p:nvPr/>
        </p:nvSpPr>
        <p:spPr>
          <a:xfrm>
            <a:off x="6035040" y="2468880"/>
            <a:ext cx="2468880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EE13FD-087C-4042-B5E0-9A0D06651651}"/>
              </a:ext>
            </a:extLst>
          </p:cNvPr>
          <p:cNvSpPr>
            <a:spLocks noGrp="1"/>
          </p:cNvSpPr>
          <p:nvPr/>
        </p:nvSpPr>
        <p:spPr>
          <a:xfrm>
            <a:off x="6035040" y="24688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逐三角分片 warp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AE0F2-C1D4-4AE3-B238-E6812EA4DBD0}"/>
              </a:ext>
            </a:extLst>
          </p:cNvPr>
          <p:cNvSpPr>
            <a:spLocks noGrp="1"/>
          </p:cNvSpPr>
          <p:nvPr/>
        </p:nvSpPr>
        <p:spPr>
          <a:xfrm>
            <a:off x="8412480" y="246888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▶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706F2B-304E-40C7-BF84-CF889735921D}"/>
              </a:ext>
            </a:extLst>
          </p:cNvPr>
          <p:cNvSpPr>
            <a:spLocks noGrp="1"/>
          </p:cNvSpPr>
          <p:nvPr/>
        </p:nvSpPr>
        <p:spPr>
          <a:xfrm>
            <a:off x="8732520" y="2468880"/>
            <a:ext cx="2468880" cy="91440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B18080-6144-49AC-8003-6B974D8C3502}"/>
              </a:ext>
            </a:extLst>
          </p:cNvPr>
          <p:cNvSpPr>
            <a:spLocks noGrp="1"/>
          </p:cNvSpPr>
          <p:nvPr/>
        </p:nvSpPr>
        <p:spPr>
          <a:xfrm>
            <a:off x="8732520" y="24688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Alpha 羽化混合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E0E592-6891-45C9-8889-93C1BE3A9812}"/>
              </a:ext>
            </a:extLst>
          </p:cNvPr>
          <p:cNvSpPr>
            <a:spLocks noGrp="1"/>
          </p:cNvSpPr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关键优化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2A6091-3937-4B1F-A8FA-A51EFCDD093B}"/>
              </a:ext>
            </a:extLst>
          </p:cNvPr>
          <p:cNvSpPr>
            <a:spLocks noGrp="1"/>
          </p:cNvSpPr>
          <p:nvPr/>
        </p:nvSpPr>
        <p:spPr>
          <a:xfrm>
            <a:off x="640080" y="4480560"/>
            <a:ext cx="10972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ROI 包围盒：仅在三角形小块区域做 warp，维持实时帧率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Alpha 通道 5×5 高斯模糊羽化，缓解贴图硬边</a:t>
            </a:r>
          </a:p>
        </p:txBody>
      </p:sp>
    </p:spTree>
    <p:extLst>
      <p:ext uri="{BB962C8B-B14F-4D97-AF65-F5344CB8AC3E}">
        <p14:creationId xmlns:p14="http://schemas.microsoft.com/office/powerpoint/2010/main" val="40890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7D4EC-3996-4754-A9D9-9FA23FCAC9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CF540B-400D-41E0-ACA9-1A69C1022A6A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D789C-9B7A-43BC-BBCE-C220630CFD4B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六、v2：典型 Bug 与修复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EEC43-3F6C-43CE-8ED3-CA9C6FEAD171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10641-401B-47AF-9298-025900DA5011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1371600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9BD8B-D69B-4941-8037-AF3453FC5295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1371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现象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99B23A-2B24-4DA2-A32D-99236CFD511A}"/>
              </a:ext>
            </a:extLst>
          </p:cNvPr>
          <p:cNvSpPr>
            <a:spLocks noGrp="1"/>
          </p:cNvSpPr>
          <p:nvPr/>
        </p:nvSpPr>
        <p:spPr>
          <a:xfrm>
            <a:off x="2103120" y="1280160"/>
            <a:ext cx="9418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96B30-F614-4CDF-B454-DF100DA8FFFB}"/>
              </a:ext>
            </a:extLst>
          </p:cNvPr>
          <p:cNvSpPr>
            <a:spLocks noGrp="1"/>
          </p:cNvSpPr>
          <p:nvPr/>
        </p:nvSpPr>
        <p:spPr>
          <a:xfrm>
            <a:off x="2377440" y="1280160"/>
            <a:ext cx="8961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大角度侧脸时程序崩溃，摄像头被占用无法重启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7800B-8BB7-4301-93C4-7F010523DDF5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1371600" cy="1097280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01A1E-242F-43FB-A75C-EF74F11CA141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1371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根因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BE3AA-7D0B-44B6-944B-25B1F71262CB}"/>
              </a:ext>
            </a:extLst>
          </p:cNvPr>
          <p:cNvSpPr>
            <a:spLocks noGrp="1"/>
          </p:cNvSpPr>
          <p:nvPr/>
        </p:nvSpPr>
        <p:spPr>
          <a:xfrm>
            <a:off x="2103120" y="2651760"/>
            <a:ext cx="9418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0C4E3D-C304-4039-9D6F-F99FEBE53D14}"/>
              </a:ext>
            </a:extLst>
          </p:cNvPr>
          <p:cNvSpPr>
            <a:spLocks noGrp="1"/>
          </p:cNvSpPr>
          <p:nvPr/>
        </p:nvSpPr>
        <p:spPr>
          <a:xfrm>
            <a:off x="2377440" y="2651760"/>
            <a:ext cx="8961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关键点外推 → 包围盒过大 → warpAffine 内存爆炸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F3E7E-57B3-4C27-8F59-5024A1584708}"/>
              </a:ext>
            </a:extLst>
          </p:cNvPr>
          <p:cNvSpPr>
            <a:spLocks noGrp="1"/>
          </p:cNvSpPr>
          <p:nvPr/>
        </p:nvSpPr>
        <p:spPr>
          <a:xfrm>
            <a:off x="640080" y="4023360"/>
            <a:ext cx="1371600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27B84-1FDD-4088-BD4A-B950C79B0345}"/>
              </a:ext>
            </a:extLst>
          </p:cNvPr>
          <p:cNvSpPr>
            <a:spLocks noGrp="1"/>
          </p:cNvSpPr>
          <p:nvPr/>
        </p:nvSpPr>
        <p:spPr>
          <a:xfrm>
            <a:off x="640080" y="4023360"/>
            <a:ext cx="1371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修复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A804B-FE57-4AFA-917F-BBCD12BC2B70}"/>
              </a:ext>
            </a:extLst>
          </p:cNvPr>
          <p:cNvSpPr>
            <a:spLocks noGrp="1"/>
          </p:cNvSpPr>
          <p:nvPr/>
        </p:nvSpPr>
        <p:spPr>
          <a:xfrm>
            <a:off x="2103120" y="4023360"/>
            <a:ext cx="9418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48190D-7581-43A3-9E8B-586BCFBDCBE4}"/>
              </a:ext>
            </a:extLst>
          </p:cNvPr>
          <p:cNvSpPr>
            <a:spLocks noGrp="1"/>
          </p:cNvSpPr>
          <p:nvPr/>
        </p:nvSpPr>
        <p:spPr>
          <a:xfrm>
            <a:off x="2377440" y="4023360"/>
            <a:ext cx="8961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defRPr>
            </a:pPr>
            <a:r>
              <a:t>包围盒与画面求交后再 warp，限制输出尺寸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8F01A-7E8F-444E-A967-C1379E14BBFC}"/>
              </a:ext>
            </a:extLst>
          </p:cNvPr>
          <p:cNvSpPr>
            <a:spLocks noGrp="1"/>
          </p:cNvSpPr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8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启示：底层库崩溃常无 Python 报错栈，应从数据边界（坐标、ROI 尺寸）排查</a:t>
            </a:r>
          </a:p>
        </p:txBody>
      </p:sp>
    </p:spTree>
    <p:extLst>
      <p:ext uri="{BB962C8B-B14F-4D97-AF65-F5344CB8AC3E}">
        <p14:creationId xmlns:p14="http://schemas.microsoft.com/office/powerpoint/2010/main" val="89405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505049-A079-4958-B3E9-1F43006BF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2F12D-CBF5-4001-97EC-B01F72147FFB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83EE9-877E-40FD-8527-81967C8043E3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七、v2：实现效果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75105-D4A0-41B8-9BA1-7364615DCC47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6BA67-7886-41F6-99C4-3A30A0E6CE21}"/>
              </a:ext>
            </a:extLst>
          </p:cNvPr>
          <p:cNvSpPr>
            <a:spLocks noGrp="1"/>
          </p:cNvSpPr>
          <p:nvPr/>
        </p:nvSpPr>
        <p:spPr>
          <a:xfrm>
            <a:off x="777240" y="105156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87843"/>
            <a:ext cx="5212080" cy="41566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F3BDA29-E22D-4FAB-A1F8-CD87996CC7BF}"/>
              </a:ext>
            </a:extLst>
          </p:cNvPr>
          <p:cNvSpPr>
            <a:spLocks noGrp="1"/>
          </p:cNvSpPr>
          <p:nvPr/>
        </p:nvSpPr>
        <p:spPr>
          <a:xfrm>
            <a:off x="6263640" y="105156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11630"/>
            <a:ext cx="5212080" cy="3909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051FBA-E094-4282-954C-91712104B590}"/>
              </a:ext>
            </a:extLst>
          </p:cNvPr>
          <p:cNvSpPr>
            <a:spLocks noGrp="1"/>
          </p:cNvSpPr>
          <p:nvPr/>
        </p:nvSpPr>
        <p:spPr>
          <a:xfrm>
            <a:off x="822960" y="6080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正面效果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9AE3A-0681-4478-A29C-DE09E59579B2}"/>
              </a:ext>
            </a:extLst>
          </p:cNvPr>
          <p:cNvSpPr>
            <a:spLocks noGrp="1"/>
          </p:cNvSpPr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侧脸效果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EE864-E87C-4EAD-9616-21550E519FB8}"/>
              </a:ext>
            </a:extLst>
          </p:cNvPr>
          <p:cNvSpPr>
            <a:spLocks noGrp="1"/>
          </p:cNvSpPr>
          <p:nvPr/>
        </p:nvSpPr>
        <p:spPr>
          <a:xfrm>
            <a:off x="822960" y="6400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备注：笔记本摄像头故障，改用 Iriun Webcam 借手机摄像头测试</a:t>
            </a:r>
          </a:p>
        </p:txBody>
      </p:sp>
    </p:spTree>
    <p:extLst>
      <p:ext uri="{BB962C8B-B14F-4D97-AF65-F5344CB8AC3E}">
        <p14:creationId xmlns:p14="http://schemas.microsoft.com/office/powerpoint/2010/main" val="1523823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C38ECB-2DF1-4580-8946-1475C99F0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6DA97-15B8-49C4-B8BA-CB5A51526856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54A0-0FFB-47E3-B5A4-458FA11B71DB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八、v2.1：扩展与性能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43934-08CB-4E9B-A086-E3983A8B5EAE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54D93-7BF8-4164-A485-79696A88A44C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优化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724BD0-2020-489D-9C46-53A4D17B4653}"/>
              </a:ext>
            </a:extLst>
          </p:cNvPr>
          <p:cNvSpPr>
            <a:spLocks noGrp="1"/>
          </p:cNvSpPr>
          <p:nvPr/>
        </p:nvSpPr>
        <p:spPr>
          <a:xfrm>
            <a:off x="640080" y="1645920"/>
            <a:ext cx="49377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三角剖分拓扑写入缓存，启动更快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2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支持不同人脸轮廓 mask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8DCCC6-55C5-4AB4-BE19-64AEA64E4E1C}"/>
              </a:ext>
            </a:extLst>
          </p:cNvPr>
          <p:cNvSpPr>
            <a:spLocks noGrp="1"/>
          </p:cNvSpPr>
          <p:nvPr/>
        </p:nvSpPr>
        <p:spPr>
          <a:xfrm>
            <a:off x="640080" y="3840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性能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172531-9069-485A-A705-3EB1CB637681}"/>
              </a:ext>
            </a:extLst>
          </p:cNvPr>
          <p:cNvSpPr>
            <a:spLocks noGrp="1"/>
          </p:cNvSpPr>
          <p:nvPr/>
        </p:nvSpPr>
        <p:spPr>
          <a:xfrm>
            <a:off x="640080" y="438912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407C0-E247-4331-8EBA-72A49AB703B3}"/>
              </a:ext>
            </a:extLst>
          </p:cNvPr>
          <p:cNvSpPr>
            <a:spLocks noGrp="1"/>
          </p:cNvSpPr>
          <p:nvPr/>
        </p:nvSpPr>
        <p:spPr>
          <a:xfrm>
            <a:off x="640080" y="44348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40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约 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4AC3C-AAEF-4BF0-ACEF-406179318912}"/>
              </a:ext>
            </a:extLst>
          </p:cNvPr>
          <p:cNvSpPr>
            <a:spLocks noGrp="1"/>
          </p:cNvSpPr>
          <p:nvPr/>
        </p:nvSpPr>
        <p:spPr>
          <a:xfrm>
            <a:off x="640080" y="51206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FPS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F9039A-2073-405F-9820-AD5ACE616614}"/>
              </a:ext>
            </a:extLst>
          </p:cNvPr>
          <p:cNvSpPr>
            <a:spLocks noGrp="1"/>
          </p:cNvSpPr>
          <p:nvPr/>
        </p:nvSpPr>
        <p:spPr>
          <a:xfrm>
            <a:off x="5989320" y="1097280"/>
            <a:ext cx="2560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331720"/>
            <a:ext cx="2468880" cy="24688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86358B7-0D87-4ACF-B711-46209B488E6C}"/>
              </a:ext>
            </a:extLst>
          </p:cNvPr>
          <p:cNvSpPr>
            <a:spLocks noGrp="1"/>
          </p:cNvSpPr>
          <p:nvPr/>
        </p:nvSpPr>
        <p:spPr>
          <a:xfrm>
            <a:off x="8641080" y="1097280"/>
            <a:ext cx="3017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3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468880"/>
            <a:ext cx="2926080" cy="21945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B40884-EBB6-4014-9C32-D45F973CD5CB}"/>
              </a:ext>
            </a:extLst>
          </p:cNvPr>
          <p:cNvSpPr>
            <a:spLocks noGrp="1"/>
          </p:cNvSpPr>
          <p:nvPr/>
        </p:nvSpPr>
        <p:spPr>
          <a:xfrm>
            <a:off x="6035040" y="6035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新 mask 素材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A3B9BA-10ED-4E45-AA0A-CB60F2488FC3}"/>
              </a:ext>
            </a:extLst>
          </p:cNvPr>
          <p:cNvSpPr>
            <a:spLocks noGrp="1"/>
          </p:cNvSpPr>
          <p:nvPr/>
        </p:nvSpPr>
        <p:spPr>
          <a:xfrm>
            <a:off x="8686800" y="6035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替换效果</a:t>
            </a:r>
          </a:p>
        </p:txBody>
      </p:sp>
    </p:spTree>
    <p:extLst>
      <p:ext uri="{BB962C8B-B14F-4D97-AF65-F5344CB8AC3E}">
        <p14:creationId xmlns:p14="http://schemas.microsoft.com/office/powerpoint/2010/main" val="95197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FE48C2-E950-49CC-B01E-87A854AB5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1CDA3-EF87-4F32-A7FE-09945EA7DD7D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10CB8-1EFA-494F-B1DF-35AB906342E2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九、后续迭代方向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56803-09D3-4BF7-8D30-2CADBA40189F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29B9C3-59CC-4AEC-A056-3A43471028B5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4FB5AB-203D-4D21-A5A8-C83E2049EC0D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534924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5D3BB-50C5-4819-A750-DEC20552FC06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5349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性能优化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B12C6-83F6-4814-9AA7-684AC9A35F8C}"/>
              </a:ext>
            </a:extLst>
          </p:cNvPr>
          <p:cNvSpPr>
            <a:spLocks noGrp="1"/>
          </p:cNvSpPr>
          <p:nvPr/>
        </p:nvSpPr>
        <p:spPr>
          <a:xfrm>
            <a:off x="1005840" y="2286000"/>
            <a:ext cx="466344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  <a:buNone/>
            </a:pPr>
            <a:r>
              <a:rPr sz="26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仅取五官区域关键点，提升帧率</a:t>
            </a:r>
          </a:p>
          <a:p>
            <a:pPr>
              <a:lnSpc>
                <a:spcPct val="115000"/>
              </a:lnSpc>
              <a:spcAft>
                <a:spcPts val="2200"/>
              </a:spcAft>
              <a:buNone/>
            </a:pPr>
            <a:r>
              <a:rPr sz="26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线稿只渲染五官，其余白底填充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860B25-C8E1-4B90-8C8B-FD852EB97A80}"/>
              </a:ext>
            </a:extLst>
          </p:cNvPr>
          <p:cNvSpPr>
            <a:spLocks noGrp="1"/>
          </p:cNvSpPr>
          <p:nvPr/>
        </p:nvSpPr>
        <p:spPr>
          <a:xfrm>
            <a:off x="6263640" y="128016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D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1BA63-DCD7-437A-9D36-4BE11C4AA9E7}"/>
              </a:ext>
            </a:extLst>
          </p:cNvPr>
          <p:cNvSpPr>
            <a:spLocks noGrp="1"/>
          </p:cNvSpPr>
          <p:nvPr/>
        </p:nvSpPr>
        <p:spPr>
          <a:xfrm>
            <a:off x="6263640" y="1280160"/>
            <a:ext cx="534924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C8883-8366-4C51-A3BE-8E4148B0307E}"/>
              </a:ext>
            </a:extLst>
          </p:cNvPr>
          <p:cNvSpPr>
            <a:spLocks noGrp="1"/>
          </p:cNvSpPr>
          <p:nvPr/>
        </p:nvSpPr>
        <p:spPr>
          <a:xfrm>
            <a:off x="6263640" y="1280160"/>
            <a:ext cx="5349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功能扩展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6DFB1-8054-4085-9FC5-34F58E9D1560}"/>
              </a:ext>
            </a:extLst>
          </p:cNvPr>
          <p:cNvSpPr>
            <a:spLocks noGrp="1"/>
          </p:cNvSpPr>
          <p:nvPr/>
        </p:nvSpPr>
        <p:spPr>
          <a:xfrm>
            <a:off x="6629400" y="2286000"/>
            <a:ext cx="466344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  <a:buNone/>
            </a:pPr>
            <a:r>
              <a:rPr sz="26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mask 热切换</a:t>
            </a:r>
          </a:p>
          <a:p>
            <a:pPr>
              <a:lnSpc>
                <a:spcPct val="115000"/>
              </a:lnSpc>
              <a:spcAft>
                <a:spcPts val="2200"/>
              </a:spcAft>
              <a:buNone/>
            </a:pPr>
            <a:r>
              <a:rPr sz="26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GUI 交互界面</a:t>
            </a:r>
          </a:p>
        </p:txBody>
      </p:sp>
    </p:spTree>
    <p:extLst>
      <p:ext uri="{BB962C8B-B14F-4D97-AF65-F5344CB8AC3E}">
        <p14:creationId xmlns:p14="http://schemas.microsoft.com/office/powerpoint/2010/main" val="31334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51C6E-0956-4C64-AF33-FFD27ECD0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A69E39-09FB-4D4A-B823-7273CF94A7BD}"/>
              </a:ext>
            </a:extLst>
          </p:cNvPr>
          <p:cNvSpPr>
            <a:spLocks noGrp="1"/>
          </p:cNvSpPr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F31B9-B5BA-4387-A475-ACA35780BFFE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十、总结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661B8-0CFE-4B69-88C5-C66430456064}"/>
              </a:ext>
            </a:extLst>
          </p:cNvPr>
          <p:cNvSpPr>
            <a:spLocks noGrp="1"/>
          </p:cNvSpPr>
          <p:nvPr/>
        </p:nvSpPr>
        <p:spPr>
          <a:xfrm>
            <a:off x="11155680" y="0"/>
            <a:ext cx="640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D58FD-ED69-4543-A692-C4174DE7D2CE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4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项目收获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20DE5-CC7D-4BB9-AE66-5874CA369F62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10972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打通检测 → 变形 → 融合全链路，宏观把握数字图像处理</a:t>
            </a: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独立完成 v1 → v2 → v2.1 迭代，解决标注、崩溃、性能问题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6D0B3-CFF3-483D-832F-1FC607B0E1C1}"/>
              </a:ext>
            </a:extLst>
          </p:cNvPr>
          <p:cNvSpPr>
            <a:spLocks noGrp="1"/>
          </p:cNvSpPr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4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心得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04C5D-00BA-4495-AB09-C1A1EF144C44}"/>
              </a:ext>
            </a:extLst>
          </p:cNvPr>
          <p:cNvSpPr>
            <a:spLocks noGrp="1"/>
          </p:cNvSpPr>
          <p:nvPr/>
        </p:nvSpPr>
        <p:spPr>
          <a:xfrm>
            <a:off x="640080" y="420624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sz="230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 AI 辅助开发需保持质疑，理解原理后再采纳建议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C07858-D90F-4B79-9A19-3699BF24AD25}"/>
              </a:ext>
            </a:extLst>
          </p:cNvPr>
          <p:cNvSpPr>
            <a:spLocks noGrp="1"/>
          </p:cNvSpPr>
          <p:nvPr/>
        </p:nvSpPr>
        <p:spPr>
          <a:xfrm>
            <a:off x="640080" y="5394960"/>
            <a:ext cx="10881360" cy="27432"/>
          </a:xfrm>
          <a:prstGeom prst="rect">
            <a:avLst/>
          </a:prstGeom>
          <a:solidFill>
            <a:srgbClr val="3D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9F328-00E9-4087-BC0E-5D5C261EFE4B}"/>
              </a:ext>
            </a:extLst>
          </p:cNvPr>
          <p:cNvSpPr>
            <a:spLocks noGrp="1"/>
          </p:cNvSpPr>
          <p:nvPr/>
        </p:nvSpPr>
        <p:spPr>
          <a:xfrm>
            <a:off x="640080" y="557784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20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defRPr>
            </a:pPr>
            <a:r>
              <a:t>复现尚不完美，将持续改进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5A90AE-28ED-4AD2-8755-5E05D72ED4FE}"/>
              </a:ext>
            </a:extLst>
          </p:cNvPr>
          <p:cNvSpPr>
            <a:spLocks noGrp="1"/>
          </p:cNvSpPr>
          <p:nvPr/>
        </p:nvSpPr>
        <p:spPr>
          <a:xfrm>
            <a:off x="8229600" y="548640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buNone/>
              <a:defRPr sz="4000" b="1">
                <a:solidFill>
                  <a:srgbClr val="1B3A6B"/>
                </a:solidFill>
                <a:latin typeface="微软雅黑"/>
                <a:ea typeface="微软雅黑"/>
                <a:cs typeface="微软雅黑"/>
              </a:defRPr>
            </a:pPr>
            <a: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191332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DocSecurity>0</DocSecurity>
  <PresentationFormat>宽屏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1</cp:revision>
  <dcterms:created xsi:type="dcterms:W3CDTF">2026-09-01T13:56:00Z</dcterms:created>
  <dcterms:modified xsi:type="dcterms:W3CDTF">2026-09-01T13:57:50Z</dcterms:modified>
</cp:coreProperties>
</file>